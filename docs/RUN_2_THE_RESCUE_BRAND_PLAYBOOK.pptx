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0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8BDF"/>
                </a:solidFill>
                <a:latin typeface="Menlo"/>
              </a:rPr>
              <a:t>✦   RUN 2 THE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FFFFFF"/>
                </a:solidFill>
                <a:latin typeface="Helvetica Neue"/>
              </a:rPr>
              <a:t>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FFFFFF"/>
                </a:solidFill>
                <a:latin typeface="Helvetica Neue"/>
              </a:rPr>
              <a:t>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CC6D5"/>
                </a:solidFill>
                <a:latin typeface="Helvetica Neue"/>
              </a:rPr>
              <a:t>Voice, typography, color, and motion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CC6D5"/>
                </a:solidFill>
                <a:latin typeface="Helvetica Neue"/>
              </a:rPr>
              <a:t>a nonprofit rescuing dogs from the East Asia meat trade.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4114800" cy="18288"/>
          </a:xfrm>
          <a:prstGeom prst="rect">
            <a:avLst/>
          </a:prstGeom>
          <a:solidFill>
            <a:srgbClr val="5E3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48BDF"/>
                </a:solidFill>
                <a:latin typeface="Helvetica Neue"/>
              </a:rPr>
              <a:t>RUN.   RESCUE.   REPEAT.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9DB4"/>
                </a:solidFill>
                <a:latin typeface="Menlo"/>
              </a:rPr>
              <a:t>501(c)(3) Nonprofit   ·   EIN 99-4240461   ·   Edition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02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FOREWORD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How to use this playbook.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43394E"/>
                </a:solidFill>
                <a:latin typeface="Helvetica Neue"/>
              </a:rPr>
              <a:t>Every color, type choice, and voice rule here is already in use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E3F95"/>
                </a:solidFill>
                <a:latin typeface="Menlo"/>
              </a:rPr>
              <a:t>run2-rescuedemo.vercel.app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43394E"/>
                </a:solidFill>
                <a:latin typeface="Helvetica Neue"/>
              </a:rPr>
              <a:t>Open the live site in another tab while you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10972800" cy="18288"/>
          </a:xfrm>
          <a:prstGeom prst="rect">
            <a:avLst/>
          </a:prstGeom>
          <a:solidFill>
            <a:srgbClr val="D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B7585"/>
                </a:solidFill>
                <a:latin typeface="Helvetica Neue"/>
              </a:rPr>
              <a:t>Two rules never break: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1.   The protected lexicon  (§ 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2.   No graphic cruelty outside the Reality page  (§ 07)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Everything else is guidance. Ship the better 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03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01   WHO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Dogs from the meat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43394E"/>
                </a:solidFill>
                <a:latin typeface="Helvetica Neue"/>
              </a:rPr>
              <a:t>We pull them. We get them well. We send them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FOUNDED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A1226"/>
                </a:solidFill>
                <a:latin typeface="Helvetica Neue"/>
              </a:rPr>
              <a:t>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B7585"/>
                </a:solidFill>
                <a:latin typeface="Helvetica Neue"/>
              </a:rPr>
              <a:t>Brandy Cherven (CEO) and Bonnie Klapper (COO)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840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REGIONS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A1226"/>
                </a:solidFill>
                <a:latin typeface="Helvetica Neue"/>
              </a:rPr>
              <a:t>China  ·  South Korea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9834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B7585"/>
                </a:solidFill>
                <a:latin typeface="Helvetica Neue"/>
              </a:rPr>
              <a:t>On-the-ground rescuer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40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FLIGHT HUBS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A1226"/>
                </a:solidFill>
                <a:latin typeface="Helvetica Neue"/>
              </a:rPr>
              <a:t>JFK  ·  LAX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9834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B7585"/>
                </a:solidFill>
                <a:latin typeface="Helvetica Neue"/>
              </a:rPr>
              <a:t>Where survivors land in the U.S.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40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A1226"/>
                </a:solidFill>
                <a:latin typeface="Helvetica Neue"/>
              </a:rPr>
              <a:t>501(c)(3)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9834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B7585"/>
                </a:solidFill>
                <a:latin typeface="Helvetica Neue"/>
              </a:rPr>
              <a:t>EIN 99-4240461  ·  Tax deductible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04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02   VOICE AND 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Four voices, blended.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6576" cy="7315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226"/>
                </a:solidFill>
                <a:latin typeface="Helvetica Neue"/>
              </a:rPr>
              <a:t>Hopeful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3394E"/>
                </a:solidFill>
                <a:latin typeface="Helvetica Neue"/>
              </a:rPr>
              <a:t>We lead with what's possible, not what's painful.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36576" cy="7315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226"/>
                </a:solidFill>
                <a:latin typeface="Helvetica Neue"/>
              </a:rPr>
              <a:t>Dignified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3394E"/>
                </a:solidFill>
                <a:latin typeface="Helvetica Neue"/>
              </a:rPr>
              <a:t>We treat both the dogs and the reader as worthy.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36576" cy="7315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226"/>
                </a:solidFill>
                <a:latin typeface="Helvetica Neue"/>
              </a:rPr>
              <a:t>Urgent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81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3394E"/>
                </a:solidFill>
                <a:latin typeface="Helvetica Neue"/>
              </a:rPr>
              <a:t>Real timelines, real stakes. Never alarmist.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66360"/>
            <a:ext cx="36576" cy="7315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226"/>
                </a:solidFill>
                <a:latin typeface="Helvetica Neue"/>
              </a:rPr>
              <a:t>Never exploitative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504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3394E"/>
                </a:solidFill>
                <a:latin typeface="Helvetica Neue"/>
              </a:rPr>
              <a:t>We never use trauma porn or guilt to drive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02   READER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Every CTA is a door, not an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7B7585"/>
                </a:solidFill>
                <a:latin typeface="Helvetica Neue"/>
              </a:rPr>
              <a:t>The visitor is a co-rescuer, not a savior. Phrasing reflects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E3F95"/>
                </a:solidFill>
                <a:latin typeface="Menlo"/>
              </a:rPr>
              <a:t>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108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6847"/>
                </a:solidFill>
                <a:latin typeface="Menlo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01568"/>
            <a:ext cx="5303520" cy="18288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401568"/>
            <a:ext cx="5303520" cy="18288"/>
          </a:xfrm>
          <a:prstGeom prst="rect">
            <a:avLst/>
          </a:prstGeom>
          <a:solidFill>
            <a:srgbClr val="D96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226"/>
                </a:solidFill>
                <a:latin typeface="Helvetica Neue"/>
              </a:rPr>
              <a:t>Meet the survivors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7B7585"/>
                </a:solidFill>
                <a:latin typeface="Helvetica Neue"/>
              </a:rPr>
              <a:t>Please help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226"/>
                </a:solidFill>
                <a:latin typeface="Helvetica Neue"/>
              </a:rPr>
              <a:t>Bring one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7B7585"/>
                </a:solidFill>
                <a:latin typeface="Helvetica Neue"/>
              </a:rPr>
              <a:t>Donate to save lives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226"/>
                </a:solidFill>
                <a:latin typeface="Helvetica Neue"/>
              </a:rPr>
              <a:t>Fund a flight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17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7B7585"/>
                </a:solidFill>
                <a:latin typeface="Helvetica Neue"/>
              </a:rPr>
              <a:t>We need your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226"/>
                </a:solidFill>
                <a:latin typeface="Helvetica Neue"/>
              </a:rPr>
              <a:t>Open your 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120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7B7585"/>
                </a:solidFill>
                <a:latin typeface="Helvetica Neue"/>
              </a:rPr>
              <a:t>Will you give?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0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DDD6E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DDD6E5"/>
                </a:solidFill>
                <a:latin typeface="Menlo"/>
              </a:rPr>
              <a:t>06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48BDF"/>
                </a:solidFill>
                <a:latin typeface="Menlo"/>
              </a:rPr>
              <a:t>✦   02   TRANSFORMATION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Every survivor's arc bends through one of these.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B48BDF"/>
                </a:solidFill>
                <a:latin typeface="Helvetica Neue"/>
              </a:rPr>
              <a:t>trauma to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B48BDF"/>
                </a:solidFill>
                <a:latin typeface="Helvetica Neue"/>
              </a:rPr>
              <a:t>fear to faith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B48BDF"/>
                </a:solidFill>
                <a:latin typeface="Helvetica Neue"/>
              </a:rPr>
              <a:t>forgotten to forever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CCC6D5"/>
                </a:solidFill>
                <a:latin typeface="Helvetica Neue"/>
              </a:rPr>
              <a:t>Use sparingly. Never all three in one paragraph.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07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03   THE PROTECTED LEXICON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Brand assets. Never rewrite.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RUN. RESCUE. REPEAT.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4688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The tagline. Punctuation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"Run to the rescue with love, and peace will follow."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88036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Anchor quote. River Phoenix.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hopeful survivors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29184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How we refer to dogs in our care.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bravehearted survivors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70332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Emphatic variant.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voiceless victims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11480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Dogs still inside the trade.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second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5262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What adoption represents.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beacon of hope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93776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What R2TR is to activists and dogs.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226"/>
                </a:solidFill>
                <a:latin typeface="Helvetica Neue"/>
              </a:rPr>
              <a:t>Sponsor Angel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34924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B7585"/>
                </a:solidFill>
                <a:latin typeface="Helvetica Neue"/>
              </a:rPr>
              <a:t>Monthly sponsorship program name.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08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05   COLOR  ·  PLUM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Dark surfaces. The quiet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17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PLUM 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oklch(0.18 0.035 310)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#171025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1F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PLUM 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oklch(0.22 0.04 310)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#1f1530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2A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PLUM 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oklch(0.28 0.045 310)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#2a1c3d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34072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352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PLUM 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oklch(0.34 0.05 310)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#352449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6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43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6376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PLUM 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oklch(0.42 0.055 310)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#43325a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Used for: page backgrounds on dark sections  ·  card backgrounds  ·  borders.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09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05   COLOR  ·  PURPLE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Accent and interaction.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E6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PURPLE 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oklch(0.92 0.05 305)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#e6d8f0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B48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PURPLE 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oklch(0.72 0.14 305)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#b48bdf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PURPLE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oklch(0.63 0.16 305)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#9871d2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34072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7D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PURPLE 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oklch(0.54 0.17 305)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#7d56b9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6" y="310896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5E3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6376" y="3218688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PURPLE 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3611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oklch(0.44 0.15 305)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388620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#5e3f95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PURPLE 500 is the only color that carries primary actions. One per screen.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10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05   COLOR  ·  LAVENDER + INK + URGENCY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Light. Type. One accent.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F5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358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LAV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oklch(0.97 0.012 300)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#f5f3f7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92608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EB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0358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LAV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oklch(0.94 0.02 300)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#ebe7ef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92608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D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30358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LAV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oklch(0.90 0.028 300)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#ddd6e5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92608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C7B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0358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LAV 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oklch(0.84 0.035 300)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226"/>
                </a:solidFill>
                <a:latin typeface="Menlo"/>
              </a:rPr>
              <a:t>#c7bcd5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TEXT ON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1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10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03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oklch(0.16 0.03 310)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77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#1a1226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48006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43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4910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INK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5303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oklch(0.36 0.03 310)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5577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#43394e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8006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7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4910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INK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5303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oklch(0.55 0.02 310)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5577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#7b7585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6847"/>
                </a:solidFill>
                <a:latin typeface="Menlo"/>
              </a:rPr>
              <a:t>URGENCY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8006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D96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4910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URGENCY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5303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oklch(0.65 0.15 35)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577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Menlo"/>
              </a:rPr>
              <a:t>#d96847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11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06   TYPOGRAPHY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Three families. Nothing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226"/>
                </a:solidFill>
                <a:latin typeface="Helvetica Neue"/>
              </a:rPr>
              <a:t>Bricolage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226"/>
                </a:solidFill>
                <a:latin typeface="Helvetica Neue"/>
              </a:rPr>
              <a:t>Grotesque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B7585"/>
                </a:solidFill>
                <a:latin typeface="Helvetica Neue"/>
              </a:rPr>
              <a:t>Headings, hero, tagline.
Weight 600. Italic em is the punchline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9718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226"/>
                </a:solidFill>
                <a:latin typeface="Helvetica Neue"/>
              </a:rPr>
              <a:t>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226"/>
                </a:solidFill>
                <a:latin typeface="Helvetica Neue"/>
              </a:rPr>
              <a:t>Tight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B7585"/>
                </a:solidFill>
                <a:latin typeface="Helvetica Neue"/>
              </a:rPr>
              <a:t>Body copy, buttons, labels.
Weight 400 body, 500 button, 600 emphasis.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MONO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718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226"/>
                </a:solidFill>
                <a:latin typeface="Helvetica Neue"/>
              </a:rPr>
              <a:t>JetBrains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576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226"/>
                </a:solidFill>
                <a:latin typeface="Helvetica Neue"/>
              </a:rPr>
              <a:t>Mono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57200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B7585"/>
                </a:solidFill>
                <a:latin typeface="Helvetica Neue"/>
              </a:rPr>
              <a:t>Eyebrows, labels, stats.
Uppercase, letter-spaced 0.18em, 10 to 11 px.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12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06   TYPE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A1226"/>
                </a:solidFill>
                <a:latin typeface="Helvetica Neue"/>
              </a:rPr>
              <a:t>The scale, as it appears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226"/>
                </a:solidFill>
                <a:latin typeface="Helvetica Neue"/>
              </a:rPr>
              <a:t>Give Hope. Change a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4728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PAGE HERO H1   ·   600   ·   clamp(33, 9vw, 104)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9624"/>
            <a:ext cx="10972800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1226"/>
                </a:solidFill>
                <a:latin typeface="Helvetica Neue"/>
              </a:rPr>
              <a:t>Hopeful Survivors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0351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SECTION H2   ·   600   ·   clamp(32, 4.4vw, 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42687"/>
            <a:ext cx="109728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226"/>
                </a:solidFill>
                <a:latin typeface="Helvetica Neue"/>
              </a:rPr>
              <a:t>A few of our survivors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57215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SUB-SECTION H3   ·   600   ·   clamp(21, 2.5vw, 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59551"/>
            <a:ext cx="109728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226"/>
                </a:solidFill>
                <a:latin typeface="Helvetica Neue"/>
              </a:rPr>
              <a:t>Run 2 The Rescue pulls dogs from the meat trade.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13119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BODY LEAD   ·   400   ·   17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15455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226"/>
                </a:solidFill>
                <a:latin typeface="Menlo"/>
              </a:rPr>
              <a:t>DOGS RESCUED   ·   FORMS OF GIVING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638543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MONO LABEL   ·   600 uppercase   ·   10-11 px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13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07  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Photography is the brand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7B7585"/>
                </a:solidFill>
                <a:latin typeface="Helvetica Neue"/>
              </a:rPr>
              <a:t>The right photo of a real survivor is worth a paragraph of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E3F95"/>
                </a:solidFill>
                <a:latin typeface="Menlo"/>
              </a:rPr>
              <a:t>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74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6847"/>
                </a:solidFill>
                <a:latin typeface="Menlo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67328"/>
            <a:ext cx="5303520" cy="18288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767328"/>
            <a:ext cx="5303520" cy="18288"/>
          </a:xfrm>
          <a:prstGeom prst="rect">
            <a:avLst/>
          </a:prstGeom>
          <a:solidFill>
            <a:srgbClr val="D96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776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Real R2TR dogs, named, with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776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Generic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Eye level with the dog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89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Down-shots and clinical angles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Soft natural 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00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Harsh flash or studio glossy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Quiet warmth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2120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Pity or exuberance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Generous whitespace around portraits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6235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Crowded composition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Reality page (behind a notice)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0350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Graphic cruelty anywhere else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14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08   ICONOGRAPHY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Four marks. Used consistently.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6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5E3F95"/>
                </a:solidFill>
                <a:latin typeface="Helvetica Neue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226"/>
                </a:solidFill>
                <a:latin typeface="Helvetica Neue"/>
              </a:rPr>
              <a:t>Sparkle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26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3394E"/>
                </a:solidFill>
                <a:latin typeface="Helvetica Neue"/>
              </a:rPr>
              <a:t>Leader before eyebrows. Purple 400 or 500. Never as body bullets.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6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5E3F95"/>
                </a:solidFill>
                <a:latin typeface="Helvetica Neue"/>
              </a:rPr>
              <a:t>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66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226"/>
                </a:solidFill>
                <a:latin typeface="Helvetica Neue"/>
              </a:rPr>
              <a:t>Paw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977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3394E"/>
                </a:solidFill>
                <a:latin typeface="Helvetica Neue"/>
              </a:rPr>
              <a:t>Decorative. 0.08 to 0.20 opacity on dark, 0.15 to 0.30 on light. Mood, not message.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6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5E3F95"/>
                </a:solidFill>
                <a:latin typeface="Helvetica Neue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617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226"/>
                </a:solidFill>
                <a:latin typeface="Helvetica Neue"/>
              </a:rPr>
              <a:t>Arrow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029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3394E"/>
                </a:solidFill>
                <a:latin typeface="Helvetica Neue"/>
              </a:rPr>
              <a:t>On hover, buttons nudge it 3 px right. Unicode →, not -&gt; combo.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2356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6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5E3F95"/>
                </a:solidFill>
                <a:latin typeface="Helvetica Neue"/>
              </a:rPr>
              <a:t>♡  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669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226"/>
                </a:solidFill>
                <a:latin typeface="Helvetica Neue"/>
              </a:rPr>
              <a:t>Hearts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6080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3394E"/>
                </a:solidFill>
                <a:latin typeface="Helvetica Neue"/>
              </a:rPr>
              <a:t>Outline = favorite. Filled = confirmation. Always purple, never 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09   LAYOUT AND WHITESPACE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Whitespace is the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7B7585"/>
                </a:solidFill>
                <a:latin typeface="Helvetica Neue"/>
              </a:rPr>
              <a:t>More breathing room than the average nonprofit. On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SECTION PADDING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108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≥ 72 px desktop  ·  48 px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PAGE MARGINS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clamp(20px, 4vw, 48px)   ( --pad token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CARD PADDING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18 to 28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HEADLINE → PARAGRAPH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12 to 22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D56B9"/>
                </a:solidFill>
                <a:latin typeface="Menlo"/>
              </a:rPr>
              <a:t>MAX CONTENT 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1200 px   ( --maxw token 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0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DDD6E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DDD6E5"/>
                </a:solidFill>
                <a:latin typeface="Menlo"/>
              </a:rPr>
              <a:t>16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48BDF"/>
                </a:solidFill>
                <a:latin typeface="Menlo"/>
              </a:rPr>
              <a:t>✦   10   CTA PRIORITY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Four asks. One ladder.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CC6D5"/>
                </a:solidFill>
                <a:latin typeface="Helvetica Neue"/>
              </a:rPr>
              <a:t>When CTAs compete for attention, this is the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B48BD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54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ADOPT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246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CC6D5"/>
                </a:solidFill>
                <a:latin typeface="Helvetica Neue"/>
              </a:rPr>
              <a:t>Highest-impact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B48BDF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SPONSOR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02336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CC6D5"/>
                </a:solidFill>
                <a:latin typeface="Helvetica Neue"/>
              </a:rPr>
              <a:t>Recurring, deepest commitment.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B48BDF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709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DONATE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8006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CC6D5"/>
                </a:solidFill>
                <a:latin typeface="Helvetica Neue"/>
              </a:rPr>
              <a:t>One-time gift.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B48BDF"/>
                </a:solidFill>
                <a:latin typeface="Helvetica Neu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86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FOSTER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5778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CC6D5"/>
                </a:solidFill>
                <a:latin typeface="Helvetica Neue"/>
              </a:rPr>
              <a:t>Supports the pipeline.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10   CTA PHRASING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Approved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E3F95"/>
                </a:solidFill>
                <a:latin typeface="Menlo"/>
              </a:rPr>
              <a:t>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6847"/>
                </a:solidFill>
                <a:latin typeface="Menlo"/>
              </a:rPr>
              <a:t>AVOID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78608"/>
            <a:ext cx="5303520" cy="18288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578608"/>
            <a:ext cx="5303520" cy="18288"/>
          </a:xfrm>
          <a:prstGeom prst="rect">
            <a:avLst/>
          </a:prstGeom>
          <a:solidFill>
            <a:srgbClr val="D96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Adopt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889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Adopt now!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Meet the survivors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Save a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Bring one 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11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Get a dog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Start your monthly sponsorship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233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Sponsor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Be a Sponsor Angel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Give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Choose how to give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46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Please donate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Apply to foster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57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Sign up to foster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Open your 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69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B7585"/>
                </a:solidFill>
                <a:latin typeface="Helvetica Neue"/>
              </a:rPr>
              <a:t>Be a foster parent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18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11   SAMPLE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On every surface.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EMAIL 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1" i="0">
                <a:solidFill>
                  <a:srgbClr val="1A1226"/>
                </a:solidFill>
                <a:latin typeface="Helvetica Neue"/>
              </a:rPr>
              <a:t>[Name]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43394E"/>
                </a:solidFill>
                <a:latin typeface="Helvetica Neue"/>
              </a:rPr>
              <a:t>Run 2 The Rescue   ·   501(c)(3) nonprofit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5E3F95"/>
                </a:solidFill>
                <a:latin typeface="Helvetica Neue"/>
              </a:rPr>
              <a:t>RUN. RESCUE. REPEAT.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7B7585"/>
                </a:solidFill>
                <a:latin typeface="Menlo"/>
              </a:rPr>
              <a:t>run2therescue.org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51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NEWSLETTER SUBJECT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089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226"/>
                </a:solidFill>
                <a:latin typeface="Helvetica Neue"/>
              </a:rPr>
              <a:t>Three new arrivals at LAX. Meet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D56B9"/>
                </a:solidFill>
                <a:latin typeface="Menlo"/>
              </a:rPr>
              <a:t>SOCIAL CAPTION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 i="0">
                <a:solidFill>
                  <a:srgbClr val="1A1226"/>
                </a:solidFill>
                <a:latin typeface="Helvetica Neue"/>
              </a:rPr>
              <a:t>Meet [Dog Name]. Pulled from a holding pen in [Yulin / Seoul]. Cleared. Crated. And now waiting at JFK for a family.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 i="0">
                <a:solidFill>
                  <a:srgbClr val="43394E"/>
                </a:solidFill>
                <a:latin typeface="Helvetica Neue"/>
              </a:rPr>
              <a:t>Could it be yours? Adoption applications open. Link in bio.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 i="0">
                <a:solidFill>
                  <a:srgbClr val="7D56B9"/>
                </a:solidFill>
                <a:latin typeface="Helvetica Neue"/>
              </a:rPr>
              <a:t>#Run2TheRescue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19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12   TRUST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Surface, don't bury.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EIN 99-4240461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Footer, donate page, press header.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501(c)(3)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Phrasing on Donate and Footer.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Founders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Cherven (CEO) and Klapper (COO) on Leadership.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576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Dodo, People, LI Press, NY Post. Linked.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IRS Determination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148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Footer-linked PDF.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100% to the dogs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5720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Zeffy badge on the donate chooser.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14 years on the 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0292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Adopt hero stats.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226"/>
                </a:solidFill>
                <a:latin typeface="Helvetica Neue"/>
              </a:rPr>
              <a:t>Sources cited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486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Mission stats credit HSI.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B7585"/>
                </a:solidFill>
                <a:latin typeface="Menlo"/>
              </a:rPr>
              <a:t>20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871D2"/>
                </a:solidFill>
                <a:latin typeface="Menlo"/>
              </a:rPr>
              <a:t>✦   15   WHAT TO RETIRE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226"/>
                </a:solidFill>
                <a:latin typeface="Helvetica Neue"/>
              </a:rPr>
              <a:t>Edit it the moment you see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E3F95"/>
                </a:solidFill>
                <a:latin typeface="Menlo"/>
              </a:rPr>
              <a:t>WRITE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017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6847"/>
                </a:solidFill>
                <a:latin typeface="Menlo"/>
              </a:rPr>
              <a:t>NOT THIS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10128"/>
            <a:ext cx="5303520" cy="18288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310128"/>
            <a:ext cx="5303520" cy="18288"/>
          </a:xfrm>
          <a:prstGeom prst="rect">
            <a:avLst/>
          </a:prstGeom>
          <a:solidFill>
            <a:srgbClr val="D96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period or comma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5204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em-dash (—) in body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tax deductible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862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tax-deductible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show what we believe by what we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519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We believe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[cut it]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17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compassionate (as self-description)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name the 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83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make a 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doors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349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real survivor photography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715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stock dog photography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hope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6080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pity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226"/>
                </a:solidFill>
                <a:latin typeface="Helvetica Neue"/>
              </a:rPr>
              <a:t>cage  ·  holding pen  ·  meat trade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4465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B7585"/>
                </a:solidFill>
                <a:latin typeface="Helvetica Neue"/>
              </a:rPr>
              <a:t>slaughterhouse (in visible copy)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0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DDD6E5"/>
                </a:solidFill>
                <a:latin typeface="Menlo"/>
              </a:rPr>
              <a:t>RUN 2 THE RESCUE   ·   BRAND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DDD6E5"/>
                </a:solidFill>
                <a:latin typeface="Menlo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48BDF"/>
                </a:solidFill>
                <a:latin typeface="Menlo"/>
              </a:rPr>
              <a:t>✦   ONE MORE 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FFFFFF"/>
                </a:solidFill>
                <a:latin typeface="Helvetica Neue"/>
              </a:rPr>
              <a:t>A playbook is a starting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CC6D5"/>
                </a:solidFill>
                <a:latin typeface="Helvetica Neue"/>
              </a:rPr>
              <a:t>If a sentence is better because it breaks a rule here,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CC6D5"/>
                </a:solidFill>
                <a:latin typeface="Helvetica Neue"/>
              </a:rPr>
              <a:t>write the sentence. Ship the better 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2743200" cy="27432"/>
          </a:xfrm>
          <a:prstGeom prst="rect">
            <a:avLst/>
          </a:prstGeom>
          <a:solidFill>
            <a:srgbClr val="98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48BDF"/>
                </a:solidFill>
                <a:latin typeface="Helvetica Neue"/>
              </a:rPr>
              <a:t>RUN.   RESCUE.   REPEAT.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CC6D5"/>
                </a:solidFill>
                <a:latin typeface="Helvetica Neue"/>
              </a:rPr>
              <a:t>"Run to the rescue with love, and peace will follow."   — River Phoenix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